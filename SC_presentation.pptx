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7" r:id="rId8"/>
    <p:sldId id="268" r:id="rId9"/>
    <p:sldId id="269" r:id="rId10"/>
    <p:sldId id="274" r:id="rId11"/>
    <p:sldId id="275" r:id="rId12"/>
    <p:sldId id="270" r:id="rId13"/>
    <p:sldId id="271" r:id="rId14"/>
    <p:sldId id="272" r:id="rId15"/>
    <p:sldId id="273" r:id="rId16"/>
    <p:sldId id="276" r:id="rId17"/>
    <p:sldId id="262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91A20-7247-47A9-8B88-2736A9445435}" v="204" dt="2025-02-10T06:56:38.162"/>
    <p1510:client id="{E4068F5C-9B74-4B15-4296-8509EF8E9498}" v="140" dt="2025-02-10T06:43:18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89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188A-DB21-57D6-EA3A-A4964470D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2FE3F-0803-05C3-B1D2-5DA35FE2A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C2174-6BCA-6E24-07A8-874EBB1D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FDF34-8488-FF4D-6722-90F8846A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51DF4-99EE-2000-B700-E27A6A5E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231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7C51-CEE0-9419-E9B2-9F835811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5FAD4-A7FA-0605-3B30-953256A1D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67DEC-07DD-EDDC-EB9F-34AFF2C6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814FD-2FAE-C5E1-BEB0-C520B47B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CC20C-4CF8-0C3E-1937-535CACE4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57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E5AC-C433-1B2B-BB81-97FF7D9C5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FCEBD-7527-D6F0-D49C-3D27BE840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17EA3-770C-88FF-2D5F-ED1A0E59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2678-EFC4-041F-8424-F60CE8BF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F7413-A268-167B-52E3-A0EFD33A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109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E4CD-4503-E883-34EF-6E283567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41B0C-FE6B-C003-B6F7-3690771F4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21BBE-6E7A-A11E-28B7-599EAFAC0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1130E-E2A4-11BE-9329-80604BE4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37160-036F-873F-1702-A31A6D4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A3714-9B9C-BDA8-59D4-E3376A4B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280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FB7C-C620-F3E2-9F22-9F4375C3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8F5F2-A3C3-3A2D-8237-B94F22282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E169B-DAB3-2450-5E15-A3DAE047B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A87FB-D766-9965-9DF2-670EA394F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A78F0-7301-B2F2-AB40-0E4DD0079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480B1-78DF-754E-2CD3-8865B47F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7D405-F282-C507-9607-9E4C3728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F85C7-CE37-0A54-5A97-B46DC0B5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769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F585-61FD-452E-2E66-65E45C2D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8ADF3-9A6A-FFEE-E852-2B1967E4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A2FD3-33BE-C8DD-8E54-B6982695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7BB01-44C4-8FAE-77A3-A58A5C5A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119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969CF-ED5F-0110-E830-5E1E2F4A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C7CE1-37F7-16DD-E34C-BB641C28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6FA55-36B4-E394-B98E-D4AFC36A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1167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242C-FBB3-F401-FFB7-D0B5A9B11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6B310-BDD9-B040-0BBA-BD00991A6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75F29-BE01-B39F-5681-37523C3F4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29411-2897-2C9E-5604-C7AAC5DF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C125C-A3E4-9242-0F15-9BFE51B2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23A88-583B-298D-8FDF-1CBDC4A5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89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F0C9-BEC2-EC1D-0F7C-EC9F7A18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ED9E2-E2A5-9CD9-2634-EAB87E89A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5BCE8-C348-FCC6-C663-DA4DE227C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E849-8A1A-116A-0C80-D20FB212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DA29A-8C0F-1405-4156-F61FE2D0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A423B-C559-5B32-ADCB-83A13AA4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964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A8183-D5E1-BD2F-B587-88862433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6BB6A-AFCE-6218-2292-9806121B4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338F5-0B56-6815-0FC7-67662BFE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97174-7E11-0871-B161-6C912F89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F0D00-D71B-878D-52FC-81C1FDEC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6427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4C18C-19D0-36B6-205A-6979EBCB7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1D402-5BD8-958E-B1BB-6B9911361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E362D-4CEF-77F8-9F2E-F505A86C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CFD6A-8358-9407-DCC7-959CF20E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EC52-3556-8751-2AF1-692116BB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623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C0C8F-6462-3EF1-0320-3369D00E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BC989-9C5A-8F0A-04B0-D2552DB5F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50B4-38FC-6A00-AC64-33ADDDF14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136F9-3E27-4A16-80B9-C09547E56C28}" type="datetimeFigureOut">
              <a:rPr lang="en-SG" smtClean="0"/>
              <a:t>13/2/2025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B9C9B-ACCE-60D5-15C9-BBBFBBE2A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EFD81-0EC4-5D69-FE64-E55057958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0A0F1-E534-4EF5-912A-8350F21DC6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982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sing DAST to Tackle the OWASP Top 10 | Nordic APIs |">
            <a:extLst>
              <a:ext uri="{FF2B5EF4-FFF2-40B4-BE49-F238E27FC236}">
                <a16:creationId xmlns:a16="http://schemas.microsoft.com/office/drawing/2014/main" id="{6E6453BF-9571-E7B0-D06F-1F8D6F600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705082-52F1-4BB2-6215-15354DABE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292" y="3320173"/>
            <a:ext cx="9144000" cy="2900518"/>
          </a:xfrm>
        </p:spPr>
        <p:txBody>
          <a:bodyPr>
            <a:normAutofit/>
          </a:bodyPr>
          <a:lstStyle/>
          <a:p>
            <a:pPr algn="l"/>
            <a:r>
              <a:rPr lang="en-SG">
                <a:solidFill>
                  <a:srgbClr val="FFFFFF"/>
                </a:solidFill>
              </a:rPr>
              <a:t>Web application vulnerability assessment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636E9-3694-5E6C-0439-A31A84C22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419" y="6220691"/>
            <a:ext cx="9144000" cy="1098395"/>
          </a:xfrm>
        </p:spPr>
        <p:txBody>
          <a:bodyPr>
            <a:normAutofit/>
          </a:bodyPr>
          <a:lstStyle/>
          <a:p>
            <a:pPr algn="l"/>
            <a:r>
              <a:rPr lang="en-SG" sz="1400">
                <a:solidFill>
                  <a:srgbClr val="FFFFFF"/>
                </a:solidFill>
              </a:rPr>
              <a:t>By </a:t>
            </a:r>
            <a:r>
              <a:rPr lang="en-SG" sz="1400" err="1">
                <a:solidFill>
                  <a:srgbClr val="FFFFFF"/>
                </a:solidFill>
              </a:rPr>
              <a:t>Akhmal</a:t>
            </a:r>
            <a:r>
              <a:rPr lang="en-SG" sz="1400">
                <a:solidFill>
                  <a:srgbClr val="FFFFFF"/>
                </a:solidFill>
              </a:rPr>
              <a:t> and Shaheed</a:t>
            </a:r>
          </a:p>
        </p:txBody>
      </p:sp>
    </p:spTree>
    <p:extLst>
      <p:ext uri="{BB962C8B-B14F-4D97-AF65-F5344CB8AC3E}">
        <p14:creationId xmlns:p14="http://schemas.microsoft.com/office/powerpoint/2010/main" val="1813794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sing DAST to Tackle the OWASP Top 10 | Nordic APIs |">
            <a:extLst>
              <a:ext uri="{FF2B5EF4-FFF2-40B4-BE49-F238E27FC236}">
                <a16:creationId xmlns:a16="http://schemas.microsoft.com/office/drawing/2014/main" id="{02A7539E-4B5E-360D-4089-1C118D43F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A4E66-B5AE-AE1C-14AD-5DB886961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 fontScale="90000"/>
          </a:bodyPr>
          <a:lstStyle/>
          <a:p>
            <a:r>
              <a:rPr lang="en-SG" sz="4000">
                <a:solidFill>
                  <a:schemeClr val="bg1"/>
                </a:solidFill>
              </a:rPr>
              <a:t>Chosen 2 vulnerabilities</a:t>
            </a: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85B72D9D-0BAA-E94E-AE38-DAF88D29E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3215894"/>
            <a:ext cx="5369306" cy="3207258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A1:2017-Injection</a:t>
            </a: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A9:2017-Using Components with Known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4719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4C363D35-A9A0-864D-B26B-0F439D179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1B296-4D54-F455-A300-2208EE27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SG" sz="2800">
                <a:solidFill>
                  <a:schemeClr val="bg1"/>
                </a:solidFill>
              </a:rPr>
              <a:t>SQLi</a:t>
            </a: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1BBB-1668-06C1-9D28-1BE81DDC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285" y="2718054"/>
            <a:ext cx="7436797" cy="3207258"/>
          </a:xfrm>
        </p:spPr>
        <p:txBody>
          <a:bodyPr anchor="t">
            <a:normAutofit/>
          </a:bodyPr>
          <a:lstStyle/>
          <a:p>
            <a:r>
              <a:rPr lang="en-SG" sz="1700" b="1">
                <a:solidFill>
                  <a:schemeClr val="bg1"/>
                </a:solidFill>
                <a:ea typeface="+mn-lt"/>
                <a:cs typeface="+mn-lt"/>
              </a:rPr>
              <a:t>Definition</a:t>
            </a:r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: SQL injection is a type of attack that allows an attacker to interfere with the queries an application makes to its database.</a:t>
            </a:r>
            <a:endParaRPr lang="en-SG" sz="1700">
              <a:solidFill>
                <a:schemeClr val="bg1"/>
              </a:solidFill>
            </a:endParaRPr>
          </a:p>
          <a:p>
            <a:r>
              <a:rPr lang="en-SG" sz="1700" b="1">
                <a:solidFill>
                  <a:schemeClr val="bg1"/>
                </a:solidFill>
                <a:ea typeface="+mn-lt"/>
                <a:cs typeface="+mn-lt"/>
              </a:rPr>
              <a:t>Common Target</a:t>
            </a:r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: Web applications that directly interact with a database through user inputs (e.g., login forms, search bars).</a:t>
            </a:r>
            <a:endParaRPr lang="en-SG"/>
          </a:p>
          <a:p>
            <a:r>
              <a:rPr lang="en-SG" sz="1700" b="1">
                <a:solidFill>
                  <a:schemeClr val="bg1"/>
                </a:solidFill>
                <a:ea typeface="+mn-lt"/>
                <a:cs typeface="+mn-lt"/>
              </a:rPr>
              <a:t>Example Attack</a:t>
            </a:r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: An attacker entering malicious SQL code in form fields to manipulate the query and gain unauthorized access to the database.</a:t>
            </a:r>
            <a:endParaRPr lang="en-SG">
              <a:solidFill>
                <a:schemeClr val="bg1"/>
              </a:solidFill>
            </a:endParaRPr>
          </a:p>
          <a:p>
            <a:endParaRPr lang="en-SG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569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88CE-5B96-B3A3-96D0-1555AC78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614A71B9-7153-44ED-6C85-908D1C46D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AAEC66DC-C707-1B0D-0C5A-A1668B233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92E1AB8E-9034-3734-FB7C-0DC0DB7AF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C1D2B4-111E-834E-8157-6381D45A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SG" sz="2800">
                <a:solidFill>
                  <a:schemeClr val="bg1"/>
                </a:solidFill>
              </a:rPr>
              <a:t>SQLi</a:t>
            </a: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658534C5-6D7B-EBF1-C708-914BC78E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F5C53AF7-CE31-B9A6-458B-4664AB4F2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CC234-4E75-52DC-C1BE-680773E0F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285" y="2718054"/>
            <a:ext cx="7342851" cy="3207258"/>
          </a:xfrm>
        </p:spPr>
        <p:txBody>
          <a:bodyPr anchor="t">
            <a:normAutofit/>
          </a:bodyPr>
          <a:lstStyle/>
          <a:p>
            <a:r>
              <a:rPr lang="en-SG" sz="1700" b="1">
                <a:solidFill>
                  <a:schemeClr val="bg1"/>
                </a:solidFill>
                <a:ea typeface="+mn-lt"/>
                <a:cs typeface="+mn-lt"/>
              </a:rPr>
              <a:t>What is SQL Injection?</a:t>
            </a:r>
            <a:endParaRPr lang="en-SG" sz="1700">
              <a:solidFill>
                <a:schemeClr val="bg1"/>
              </a:solidFill>
            </a:endParaRPr>
          </a:p>
          <a:p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SQL Injection (SQLi) is a vulnerability that allows attackers to manipulate database queries by injecting malicious SQL code.</a:t>
            </a:r>
            <a:endParaRPr lang="en-SG">
              <a:solidFill>
                <a:schemeClr val="bg1"/>
              </a:solidFill>
            </a:endParaRPr>
          </a:p>
          <a:p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Occurs when user input is not properly sanitized in dynamically constructed queries.</a:t>
            </a:r>
            <a:endParaRPr lang="en-SG">
              <a:solidFill>
                <a:schemeClr val="bg1"/>
              </a:solidFill>
            </a:endParaRPr>
          </a:p>
          <a:p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Can lead to unauthorized access, data breaches, and manipulation of database records.</a:t>
            </a:r>
            <a:endParaRPr lang="en-SG">
              <a:solidFill>
                <a:schemeClr val="bg1"/>
              </a:solidFill>
            </a:endParaRPr>
          </a:p>
          <a:p>
            <a:endParaRPr lang="en-SG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13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CF29-3C82-1996-A1A1-DEEB6C77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79AF668-98A0-4434-0412-A469F3C6D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6A9B387F-F5CA-08FE-2315-26111455E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BF6F4DAE-4CAA-C3E4-BC87-E1BF85C7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CA5B4-D0BC-ED0F-8AB4-B5C05E205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SG" sz="2800">
                <a:solidFill>
                  <a:schemeClr val="bg1"/>
                </a:solidFill>
                <a:ea typeface="+mj-lt"/>
                <a:cs typeface="+mj-lt"/>
              </a:rPr>
              <a:t>SQL Injection in the Application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87CCF426-CF55-5218-C74E-1F6A99CFA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FDE0D9DB-CE6F-B32D-1FC3-D2DF1B317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597B-43E3-E457-3232-32CAF756B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285" y="2718054"/>
            <a:ext cx="6466030" cy="3207258"/>
          </a:xfrm>
        </p:spPr>
        <p:txBody>
          <a:bodyPr anchor="t">
            <a:normAutofit/>
          </a:bodyPr>
          <a:lstStyle/>
          <a:p>
            <a:r>
              <a:rPr lang="en-SG" sz="1700" b="1">
                <a:solidFill>
                  <a:schemeClr val="bg1"/>
                </a:solidFill>
                <a:ea typeface="+mn-lt"/>
                <a:cs typeface="+mn-lt"/>
              </a:rPr>
              <a:t>Vulnerability Found In</a:t>
            </a:r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:</a:t>
            </a:r>
            <a:endParaRPr lang="en-SG" sz="1700">
              <a:solidFill>
                <a:schemeClr val="bg1"/>
              </a:solidFill>
            </a:endParaRPr>
          </a:p>
          <a:p>
            <a:r>
              <a:rPr lang="en-SG" sz="1700">
                <a:solidFill>
                  <a:schemeClr val="bg1"/>
                </a:solidFill>
                <a:latin typeface="Consolas"/>
              </a:rPr>
              <a:t>/search/:query</a:t>
            </a:r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 endpoint in </a:t>
            </a:r>
            <a:r>
              <a:rPr lang="en-SG" sz="1700">
                <a:solidFill>
                  <a:schemeClr val="bg1"/>
                </a:solidFill>
                <a:latin typeface="Consolas"/>
              </a:rPr>
              <a:t>app.js</a:t>
            </a:r>
            <a:endParaRPr lang="en-SG">
              <a:solidFill>
                <a:schemeClr val="bg1"/>
              </a:solidFill>
            </a:endParaRPr>
          </a:p>
          <a:p>
            <a:r>
              <a:rPr lang="en-SG" sz="1700" err="1">
                <a:solidFill>
                  <a:schemeClr val="bg1"/>
                </a:solidFill>
                <a:latin typeface="Consolas"/>
              </a:rPr>
              <a:t>getOtherUsersListings</a:t>
            </a:r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 function in </a:t>
            </a:r>
            <a:r>
              <a:rPr lang="en-SG" sz="1700">
                <a:solidFill>
                  <a:schemeClr val="bg1"/>
                </a:solidFill>
                <a:latin typeface="Consolas"/>
              </a:rPr>
              <a:t>listing.js</a:t>
            </a:r>
            <a:endParaRPr lang="en-SG">
              <a:solidFill>
                <a:schemeClr val="bg1"/>
              </a:solidFill>
            </a:endParaRPr>
          </a:p>
          <a:p>
            <a:r>
              <a:rPr lang="en-SG" sz="1700" b="1">
                <a:solidFill>
                  <a:schemeClr val="bg1"/>
                </a:solidFill>
                <a:ea typeface="+mn-lt"/>
                <a:cs typeface="+mn-lt"/>
              </a:rPr>
              <a:t>Problem</a:t>
            </a:r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:</a:t>
            </a:r>
            <a:endParaRPr lang="en-SG">
              <a:solidFill>
                <a:schemeClr val="bg1"/>
              </a:solidFill>
            </a:endParaRPr>
          </a:p>
          <a:p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User input was accepted and injected into SQL queries without proper sanitization.</a:t>
            </a:r>
            <a:endParaRPr lang="en-SG">
              <a:solidFill>
                <a:schemeClr val="bg1"/>
              </a:solidFill>
            </a:endParaRPr>
          </a:p>
          <a:p>
            <a:r>
              <a:rPr lang="en-SG" sz="1700">
                <a:solidFill>
                  <a:schemeClr val="bg1"/>
                </a:solidFill>
                <a:ea typeface="+mn-lt"/>
                <a:cs typeface="+mn-lt"/>
              </a:rPr>
              <a:t>Allowed attackers to manipulate queries and extract unauthorized data.</a:t>
            </a:r>
            <a:endParaRPr lang="en-SG">
              <a:solidFill>
                <a:schemeClr val="bg1"/>
              </a:solidFill>
            </a:endParaRPr>
          </a:p>
          <a:p>
            <a:endParaRPr lang="en-SG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28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A163C-ABB3-C857-7130-255A3B49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4" name="Rectangle 412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F9C44-F208-9E9A-B838-18550271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SG" sz="5400"/>
              <a:t>SQLi</a:t>
            </a:r>
          </a:p>
        </p:txBody>
      </p:sp>
      <p:sp>
        <p:nvSpPr>
          <p:cNvPr id="41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8B81C-BC61-A455-F7FD-53EC461E7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SG" sz="2200" b="1">
                <a:ea typeface="+mn-lt"/>
                <a:cs typeface="+mn-lt"/>
              </a:rPr>
              <a:t>Attack Method</a:t>
            </a:r>
            <a:r>
              <a:rPr lang="en-SG" sz="2200">
                <a:ea typeface="+mn-lt"/>
                <a:cs typeface="+mn-lt"/>
              </a:rPr>
              <a:t>: Boolean-Based SQL Injection</a:t>
            </a:r>
            <a:endParaRPr lang="en-SG" sz="2200">
              <a:latin typeface="Aptos" panose="02110004020202020204"/>
            </a:endParaRPr>
          </a:p>
          <a:p>
            <a:endParaRPr lang="en-SG" sz="2200">
              <a:latin typeface="Consolas"/>
            </a:endParaRPr>
          </a:p>
          <a:p>
            <a:r>
              <a:rPr lang="en-SG" sz="2200" b="1">
                <a:ea typeface="+mn-lt"/>
                <a:cs typeface="+mn-lt"/>
              </a:rPr>
              <a:t>Impact</a:t>
            </a:r>
            <a:r>
              <a:rPr lang="en-SG" sz="2200">
                <a:ea typeface="+mn-lt"/>
                <a:cs typeface="+mn-lt"/>
              </a:rPr>
              <a:t>:</a:t>
            </a:r>
            <a:endParaRPr lang="en-SG" sz="2200"/>
          </a:p>
          <a:p>
            <a:r>
              <a:rPr lang="en-SG" sz="2200">
                <a:ea typeface="+mn-lt"/>
                <a:cs typeface="+mn-lt"/>
              </a:rPr>
              <a:t>Bypasses search filters.</a:t>
            </a:r>
            <a:endParaRPr lang="en-SG" sz="2200"/>
          </a:p>
          <a:p>
            <a:r>
              <a:rPr lang="en-SG" sz="2200">
                <a:ea typeface="+mn-lt"/>
                <a:cs typeface="+mn-lt"/>
              </a:rPr>
              <a:t>Returns all listings instead of filtered results.</a:t>
            </a:r>
            <a:endParaRPr lang="en-SG" sz="2200"/>
          </a:p>
          <a:p>
            <a:r>
              <a:rPr lang="en-SG" sz="2200">
                <a:ea typeface="+mn-lt"/>
                <a:cs typeface="+mn-lt"/>
              </a:rPr>
              <a:t>Allows attackers to extract entire database content.</a:t>
            </a:r>
            <a:endParaRPr lang="en-SG" sz="2200"/>
          </a:p>
          <a:p>
            <a:endParaRPr lang="en-SG" sz="2200"/>
          </a:p>
        </p:txBody>
      </p:sp>
      <p:pic>
        <p:nvPicPr>
          <p:cNvPr id="4" name="Picture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AD443CF7-23C3-4A8C-33F0-F76985FD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439" y="329183"/>
            <a:ext cx="3601017" cy="3429969"/>
          </a:xfrm>
          <a:prstGeom prst="rect">
            <a:avLst/>
          </a:prstGeom>
        </p:spPr>
      </p:pic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8FC8DE6E-FB65-3583-0884-264C2AC14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8486237" y="4079193"/>
            <a:ext cx="2751134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ECC09A-9B86-232E-243F-F9F4C8FE6742}"/>
              </a:ext>
            </a:extLst>
          </p:cNvPr>
          <p:cNvSpPr txBox="1"/>
          <p:nvPr/>
        </p:nvSpPr>
        <p:spPr>
          <a:xfrm>
            <a:off x="6096000" y="324970"/>
            <a:ext cx="163605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Payload Sent:</a:t>
            </a:r>
          </a:p>
        </p:txBody>
      </p:sp>
    </p:spTree>
    <p:extLst>
      <p:ext uri="{BB962C8B-B14F-4D97-AF65-F5344CB8AC3E}">
        <p14:creationId xmlns:p14="http://schemas.microsoft.com/office/powerpoint/2010/main" val="420532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5484F-2104-A7C7-A228-C47C9B5F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9" name="Rectangle 413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1" name="Rectangle 414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3" name="Rectangle 414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5" name="Rectangle 414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8BB79-6676-357C-A368-CB2B65EF9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SQLi: Vulnerable code </a:t>
            </a:r>
            <a:r>
              <a:rPr lang="en-US" sz="4000">
                <a:solidFill>
                  <a:srgbClr val="FFFFFF"/>
                </a:solidFill>
              </a:rPr>
              <a:t>(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App.js</a:t>
            </a:r>
            <a:r>
              <a:rPr lang="en-US" sz="4000">
                <a:solidFill>
                  <a:srgbClr val="FFFFFF"/>
                </a:solidFill>
              </a:rPr>
              <a:t>)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66B2E5F-DCF1-85A3-1882-AC19EA5DA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1022054"/>
            <a:ext cx="11327549" cy="325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0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C019A-ECB9-1C67-5729-4E9D9934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9" name="Rectangle 4138">
            <a:extLst>
              <a:ext uri="{FF2B5EF4-FFF2-40B4-BE49-F238E27FC236}">
                <a16:creationId xmlns:a16="http://schemas.microsoft.com/office/drawing/2014/main" id="{2ECB14B3-9882-AC93-DAE4-DA2B1E888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1" name="Rectangle 4140">
            <a:extLst>
              <a:ext uri="{FF2B5EF4-FFF2-40B4-BE49-F238E27FC236}">
                <a16:creationId xmlns:a16="http://schemas.microsoft.com/office/drawing/2014/main" id="{68CE1B91-5E8A-8872-82C0-CCCE133AC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3" name="Rectangle 4142">
            <a:extLst>
              <a:ext uri="{FF2B5EF4-FFF2-40B4-BE49-F238E27FC236}">
                <a16:creationId xmlns:a16="http://schemas.microsoft.com/office/drawing/2014/main" id="{90EEBD86-07B5-3E81-F1C5-D61DA9282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5" name="Rectangle 4144">
            <a:extLst>
              <a:ext uri="{FF2B5EF4-FFF2-40B4-BE49-F238E27FC236}">
                <a16:creationId xmlns:a16="http://schemas.microsoft.com/office/drawing/2014/main" id="{4DD6555E-A561-BB94-5FA3-519A84057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4AB30-EDE3-F070-AC4B-8A024498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SQLi: Vulnerable code </a:t>
            </a:r>
            <a:r>
              <a:rPr lang="en-US" sz="4000">
                <a:solidFill>
                  <a:srgbClr val="FFFFFF"/>
                </a:solidFill>
              </a:rPr>
              <a:t>(listing.js)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F551779-22A2-D89D-1195-2CC11B326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2295525"/>
            <a:ext cx="120777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4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C9883-21DC-6A44-ECF4-DDFE6ED6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82F961F2-AA0C-029E-0F30-4C674D50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7EB14FE1-7492-B79F-485B-5C7A2561E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A3AE5597-ECE5-EBEB-3022-7C04B9D6A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7FF1E9-77AC-0BC6-AAAA-5533C257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070382"/>
            <a:ext cx="5282167" cy="1215618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Using Components with Known Vulnerabilities</a:t>
            </a:r>
            <a:endParaRPr lang="en-SG" sz="3600">
              <a:solidFill>
                <a:schemeClr val="bg1"/>
              </a:solidFill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C4FC30D8-1D4D-77F7-5AC0-1FB814A80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F27F2D7A-BCAC-AF66-0726-D8EB84A5C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5BD5-DF5E-B6A4-16B5-DAB9E07FC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94900"/>
            <a:ext cx="5482401" cy="4139947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This refers to the practice of using outdated or insecure libraries, frameworks, or software components that contain known security vulnerabilities.</a:t>
            </a:r>
            <a:br>
              <a:rPr lang="en-US" sz="2400">
                <a:solidFill>
                  <a:schemeClr val="bg1"/>
                </a:solidFill>
              </a:rPr>
            </a:br>
            <a:br>
              <a:rPr lang="en-US" sz="2400">
                <a:solidFill>
                  <a:schemeClr val="bg1"/>
                </a:solidFill>
              </a:rPr>
            </a:br>
            <a:r>
              <a:rPr lang="en-US" sz="2400">
                <a:solidFill>
                  <a:schemeClr val="bg1"/>
                </a:solidFill>
              </a:rPr>
              <a:t>Common Sources:</a:t>
            </a:r>
          </a:p>
          <a:p>
            <a:pPr lvl="1"/>
            <a:r>
              <a:rPr lang="en-US" sz="1800">
                <a:solidFill>
                  <a:schemeClr val="bg1"/>
                </a:solidFill>
              </a:rPr>
              <a:t>Open-source libraries</a:t>
            </a:r>
          </a:p>
          <a:p>
            <a:pPr lvl="1"/>
            <a:r>
              <a:rPr lang="en-US" sz="1800">
                <a:solidFill>
                  <a:schemeClr val="bg1"/>
                </a:solidFill>
              </a:rPr>
              <a:t>Third-party packages</a:t>
            </a:r>
          </a:p>
          <a:p>
            <a:pPr lvl="1"/>
            <a:r>
              <a:rPr lang="en-US" sz="1800">
                <a:solidFill>
                  <a:schemeClr val="bg1"/>
                </a:solidFill>
              </a:rPr>
              <a:t>Frameworks with unpatched vulnerabilities</a:t>
            </a:r>
            <a:endParaRPr lang="en-SG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59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92E19-2760-1537-4879-EC393D7B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9D0E210-3880-321F-8D6C-A17AE7D7A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0A016993-79C7-A1C9-7129-4B0074C91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27A82A16-E7BF-D9D1-0D4B-7195A4C68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119DB-9D4E-AA48-FAD0-7A8553C3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161288"/>
            <a:ext cx="5015189" cy="1124712"/>
          </a:xfrm>
        </p:spPr>
        <p:txBody>
          <a:bodyPr anchor="b">
            <a:no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Risks of Using Vulnerable Components</a:t>
            </a:r>
            <a:endParaRPr lang="en-SG" sz="3600">
              <a:solidFill>
                <a:schemeClr val="bg1"/>
              </a:solidFill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9AB36BC0-1876-154E-1B42-1800FEF08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73FAC542-F63D-E36E-E026-D7F455E7A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3A6FB3-07B7-98DA-BAF7-BFBADBFB23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628" y="2808652"/>
            <a:ext cx="679567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Exploitability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Attackers can exploit known vulnerabilities in these components to gain unauthorized access or perform malicious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Lack of Vendor Support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Older or unsupported components may not receive patches or security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Breach Risk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Vulnerable components can lead to unauthorized access to sensitive data, similar to SQL injection or other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Compliance Issues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Failing to patch known vulnerabilities can lead to compliance violations (e.g., GDPR, HIPAA). </a:t>
            </a:r>
          </a:p>
        </p:txBody>
      </p:sp>
    </p:spTree>
    <p:extLst>
      <p:ext uri="{BB962C8B-B14F-4D97-AF65-F5344CB8AC3E}">
        <p14:creationId xmlns:p14="http://schemas.microsoft.com/office/powerpoint/2010/main" val="2786263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9864-A1EB-385D-4A2E-3025C974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510F1355-4ECF-E3B1-58B1-810925814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6396F7AA-9BA7-DE82-615D-9C1F6D67A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8615A8A3-1E33-ABC9-8A35-B55D533A2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5A96B-10F0-81A7-EAD8-5BBCF9CE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161288"/>
            <a:ext cx="5063055" cy="1124712"/>
          </a:xfrm>
        </p:spPr>
        <p:txBody>
          <a:bodyPr anchor="b">
            <a:no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Mitigation Strategies for Known Vulnerabilities</a:t>
            </a:r>
            <a:endParaRPr lang="en-SG" sz="3600">
              <a:solidFill>
                <a:schemeClr val="bg1"/>
              </a:solidFill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E8AF47CC-FE1C-43CD-8722-70B4CA2DC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FBCF8A49-DFCA-7620-72DE-3310A2E24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36A738-2C0E-1112-52FF-4784632345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9556" y="2670153"/>
            <a:ext cx="604674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Regular Updates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Continuously update libraries and components to the latest stable versions that fix known security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Automated Scanning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Use tools like OWASP Dependency-Check or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Snyk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identify vulnerable components in your software stack.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Version Control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Always track and control the versions of components used, and avoid using deprecated or end-of-life versions.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Security Patches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Apply security patches as soon as they are available to minimize the window of exposure. </a:t>
            </a:r>
          </a:p>
        </p:txBody>
      </p:sp>
    </p:spTree>
    <p:extLst>
      <p:ext uri="{BB962C8B-B14F-4D97-AF65-F5344CB8AC3E}">
        <p14:creationId xmlns:p14="http://schemas.microsoft.com/office/powerpoint/2010/main" val="270526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091EA-699A-CE6C-0AD9-83CC7AF27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AC9D08C6-0A9D-EF4D-C6C2-210A156D6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6B463495-1065-AAE1-23FD-22B1DFB44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43F6244C-0766-9675-BD72-5F581FB1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0553A-16EB-89F6-B34C-27738738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161288"/>
            <a:ext cx="5063055" cy="1124712"/>
          </a:xfrm>
        </p:spPr>
        <p:txBody>
          <a:bodyPr anchor="b">
            <a:no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Vulnerabilities in Busboy and Its Impact on </a:t>
            </a:r>
            <a:r>
              <a:rPr lang="en-US" sz="3600" err="1">
                <a:solidFill>
                  <a:schemeClr val="bg1"/>
                </a:solidFill>
              </a:rPr>
              <a:t>Multer</a:t>
            </a:r>
            <a:endParaRPr lang="en-SG" sz="3600">
              <a:solidFill>
                <a:schemeClr val="bg1"/>
              </a:solidFill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F7181339-3328-A100-00E3-2973EF242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4F57C4B8-2C3F-D883-0184-2E576DEF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D8ABA3-683D-751A-2DC4-2132282DFE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9556" y="2947153"/>
            <a:ext cx="604674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Busboy Overview: A streaming parser for HTML form data, often used in conjunction with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multer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handling file uploads in Node.js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Known Vulnerabilities: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Denial of Service (DoS): Certain versions of busboy have been found vulnerable to DoS attacks, which can overwhelm the server.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Injection Flaws: Earlier versions lacked proper input validation, making them susceptible to injection attacks.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C73DC-7137-7FC1-B833-BF67C7EC6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19" t="8318" r="48053" b="44363"/>
          <a:stretch/>
        </p:blipFill>
        <p:spPr>
          <a:xfrm>
            <a:off x="6433017" y="-69233"/>
            <a:ext cx="5753936" cy="692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68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8765-CFC1-29CC-949F-BE2B24F2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C90ED88-E79C-495E-7558-04770867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sing DAST to Tackle the OWASP Top 10 | Nordic APIs |">
            <a:extLst>
              <a:ext uri="{FF2B5EF4-FFF2-40B4-BE49-F238E27FC236}">
                <a16:creationId xmlns:a16="http://schemas.microsoft.com/office/drawing/2014/main" id="{F9FD5EF0-0F28-C7C0-6AFC-7297CC80A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t="9091" r="2840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DB257BF-6759-3DAC-2E43-2B4FBFFBD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20916-5797-E23C-2228-BEE02F33B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161288"/>
            <a:ext cx="5063055" cy="1124712"/>
          </a:xfrm>
        </p:spPr>
        <p:txBody>
          <a:bodyPr anchor="b">
            <a:no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Vulnerabilities in Busboy and Its Impact on Multer</a:t>
            </a:r>
            <a:endParaRPr lang="en-SG" sz="3600">
              <a:solidFill>
                <a:schemeClr val="bg1"/>
              </a:solidFill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124B87CD-65ED-05B5-2D66-F1699F52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28EF9097-1EE4-E83F-B9A7-23E204C23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9FAA60-6583-FC07-CFA5-BEEA86F736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9556" y="2947153"/>
            <a:ext cx="604674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Busboy Overview: A streaming parser for HTML form data, often used in conjunction with multer for handling file uploads in Node.js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Known Vulnerabilities: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Denial of Service (DoS): Certain versions of busboy have been found vulnerable to DoS attacks, which can overwhelm the server.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Injection Flaws: Earlier versions lacked proper input validation, making them susceptible to injection attacks.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9601F-8670-B23E-F808-754A117743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" t="5815" r="59735" b="4133"/>
          <a:stretch/>
        </p:blipFill>
        <p:spPr>
          <a:xfrm>
            <a:off x="7697860" y="-15542"/>
            <a:ext cx="4494140" cy="685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97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07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Using-DAST-To-Tackle-OWASP-Top-Ten">
            <a:extLst>
              <a:ext uri="{FF2B5EF4-FFF2-40B4-BE49-F238E27FC236}">
                <a16:creationId xmlns:a16="http://schemas.microsoft.com/office/drawing/2014/main" id="{4D4D72F9-F507-0707-2FD2-E822EDA4B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C3FB20-1ECE-5C58-751B-A7F3CFF7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082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B3AD1-EBF7-E6AF-2C42-AC3066807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chemeClr val="bg1"/>
                </a:solidFill>
              </a:rPr>
              <a:t>SQL Injection: A critical vulnerability that allows attackers to manipulate database queries and access sensitive data. Use parameterized queries and input validation to mitigate risks.</a:t>
            </a:r>
          </a:p>
          <a:p>
            <a:endParaRPr lang="en-US" sz="2200">
              <a:solidFill>
                <a:schemeClr val="bg1"/>
              </a:solidFill>
            </a:endParaRPr>
          </a:p>
          <a:p>
            <a:r>
              <a:rPr lang="en-US" sz="2200">
                <a:solidFill>
                  <a:schemeClr val="bg1"/>
                </a:solidFill>
              </a:rPr>
              <a:t>Using Components with Known Vulnerabilities: Avoid using outdated or unsupported components. Regular updates and automated tools help ensure your software remains secure.</a:t>
            </a:r>
          </a:p>
          <a:p>
            <a:endParaRPr lang="en-US" sz="2200">
              <a:solidFill>
                <a:schemeClr val="bg1"/>
              </a:solidFill>
            </a:endParaRPr>
          </a:p>
          <a:p>
            <a:r>
              <a:rPr lang="en-US" sz="2200">
                <a:solidFill>
                  <a:schemeClr val="bg1"/>
                </a:solidFill>
              </a:rPr>
              <a:t>Security Best Practices: Both SQL injection and vulnerable components can lead to serious risks. Adopting a proactive security posture is essential for protecting applications and data.</a:t>
            </a:r>
            <a:endParaRPr lang="en-SG" sz="2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714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Using-DAST-To-Tackle-OWASP-Top-Ten">
            <a:extLst>
              <a:ext uri="{FF2B5EF4-FFF2-40B4-BE49-F238E27FC236}">
                <a16:creationId xmlns:a16="http://schemas.microsoft.com/office/drawing/2014/main" id="{4E0FCAA2-79EF-CAE7-4794-59651652B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/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C42B5B-B7AF-F734-1EEB-53F3CC479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SG" sz="66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615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41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9a4159-63f0-4f15-af88-a4690c96d10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E7E1036601A44CA45F7F934D5E3E38" ma:contentTypeVersion="17" ma:contentTypeDescription="Create a new document." ma:contentTypeScope="" ma:versionID="14e44d5651fe62f358cf7a485d1e9e3e">
  <xsd:schema xmlns:xsd="http://www.w3.org/2001/XMLSchema" xmlns:xs="http://www.w3.org/2001/XMLSchema" xmlns:p="http://schemas.microsoft.com/office/2006/metadata/properties" xmlns:ns3="a9855a24-6303-4002-a1ff-e727d9b3aa6b" xmlns:ns4="e59a4159-63f0-4f15-af88-a4690c96d102" targetNamespace="http://schemas.microsoft.com/office/2006/metadata/properties" ma:root="true" ma:fieldsID="36555cfd1534ec1837b27378d35381fb" ns3:_="" ns4:_="">
    <xsd:import namespace="a9855a24-6303-4002-a1ff-e727d9b3aa6b"/>
    <xsd:import namespace="e59a4159-63f0-4f15-af88-a4690c96d10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DateTaken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855a24-6303-4002-a1ff-e727d9b3aa6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9a4159-63f0-4f15-af88-a4690c96d1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27531-F3A7-4782-B05A-A86CC3ADAC71}">
  <ds:schemaRefs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e59a4159-63f0-4f15-af88-a4690c96d102"/>
    <ds:schemaRef ds:uri="a9855a24-6303-4002-a1ff-e727d9b3aa6b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8AA8B34-DBC3-469C-AD3F-7BA5D10E6E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6A609A-A661-49DC-B3DA-4E6DD7488482}">
  <ds:schemaRefs>
    <ds:schemaRef ds:uri="a9855a24-6303-4002-a1ff-e727d9b3aa6b"/>
    <ds:schemaRef ds:uri="e59a4159-63f0-4f15-af88-a4690c96d10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Office Theme</vt:lpstr>
      <vt:lpstr>Web application vulnerability assessment </vt:lpstr>
      <vt:lpstr>Chosen 2 vulnerabilities</vt:lpstr>
      <vt:lpstr>SQLi</vt:lpstr>
      <vt:lpstr>SQLi</vt:lpstr>
      <vt:lpstr>SQL Injection in the Application</vt:lpstr>
      <vt:lpstr>SQLi</vt:lpstr>
      <vt:lpstr>SQLi: Vulnerable code (App.js)</vt:lpstr>
      <vt:lpstr>SQLi: Vulnerable code (listing.js)</vt:lpstr>
      <vt:lpstr>Using Components with Known Vulnerabilities</vt:lpstr>
      <vt:lpstr>Risks of Using Vulnerable Components</vt:lpstr>
      <vt:lpstr>Mitigation Strategies for Known Vulnerabilities</vt:lpstr>
      <vt:lpstr>Vulnerabilities in Busboy and Its Impact on Multer</vt:lpstr>
      <vt:lpstr>Vulnerabilities in Busboy and Its Impact on Multer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SHAHEED S/O AHMED SALLEH</dc:creator>
  <cp:lastModifiedBy>AHMED SHAHEED S/O AHMED SALLEH</cp:lastModifiedBy>
  <cp:revision>2</cp:revision>
  <dcterms:created xsi:type="dcterms:W3CDTF">2025-02-10T05:35:26Z</dcterms:created>
  <dcterms:modified xsi:type="dcterms:W3CDTF">2025-02-12T17:45:38Z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0x0101007AE7E1036601A44CA45F7F934D5E3E38</vt:lpwstr>
  </property>
</Properties>
</file>